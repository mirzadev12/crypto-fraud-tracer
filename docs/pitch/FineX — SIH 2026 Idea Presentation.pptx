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11111"/>
                </a:solidFill>
                <a:latin typeface="Segoe UI"/>
              </a:rPr>
              <a:t>TITLE PAGE</a:t>
            </a:r>
          </a:p>
        </p:txBody>
      </p:sp>
      <p:pic>
        <p:nvPicPr>
          <p:cNvPr id="4" name="Picture 3" descr="p1_img1_265x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20040"/>
            <a:ext cx="1874519" cy="8847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48840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11111"/>
                </a:solidFill>
                <a:latin typeface="Segoe UI"/>
              </a:rPr>
              <a:t>Problem Statement ID – </a:t>
            </a:r>
            <a:r>
              <a:rPr sz="1400" b="0" i="1">
                <a:solidFill>
                  <a:srgbClr val="222222"/>
                </a:solidFill>
                <a:latin typeface="Segoe UI"/>
              </a:rPr>
              <a:t>26183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60904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11111"/>
                </a:solidFill>
                <a:latin typeface="Segoe UI"/>
              </a:rPr>
              <a:t>Problem Statement Title – </a:t>
            </a:r>
            <a:r>
              <a:rPr sz="1400" b="0" i="1">
                <a:solidFill>
                  <a:srgbClr val="222222"/>
                </a:solidFill>
                <a:latin typeface="Segoe UI"/>
              </a:rPr>
              <a:t>Real-Time Identification of Fraud-Linked Cryptocurrency Exchanges from Victim-Reported Suspect Wallet Addresses through Automated Blockchain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21024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11111"/>
                </a:solidFill>
                <a:latin typeface="Segoe UI"/>
              </a:rPr>
              <a:t>Theme – </a:t>
            </a:r>
            <a:r>
              <a:rPr sz="1400" b="0" i="1">
                <a:solidFill>
                  <a:srgbClr val="222222"/>
                </a:solidFill>
                <a:latin typeface="Segoe UI"/>
              </a:rPr>
              <a:t>Blockchain &amp;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33087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11111"/>
                </a:solidFill>
                <a:latin typeface="Segoe UI"/>
              </a:rPr>
              <a:t>PS Category – </a:t>
            </a:r>
            <a:r>
              <a:rPr sz="1400" b="0" i="1">
                <a:solidFill>
                  <a:srgbClr val="222222"/>
                </a:solidFill>
                <a:latin typeface="Segoe UI"/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515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11111"/>
                </a:solidFill>
                <a:latin typeface="Segoe UI"/>
              </a:rPr>
              <a:t>Team ID – </a:t>
            </a:r>
            <a:r>
              <a:rPr sz="1400" b="0" i="1">
                <a:solidFill>
                  <a:srgbClr val="222222"/>
                </a:solidFill>
                <a:latin typeface="Segoe UI"/>
              </a:rPr>
              <a:t>BC-07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7216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11111"/>
                </a:solidFill>
                <a:latin typeface="Segoe UI"/>
              </a:rPr>
              <a:t>Team Name (Registered on portal) – </a:t>
            </a:r>
            <a:r>
              <a:rPr sz="1400" b="0" i="1">
                <a:solidFill>
                  <a:srgbClr val="222222"/>
                </a:solidFill>
                <a:latin typeface="Segoe UI"/>
              </a:rPr>
              <a:t>FineX</a:t>
            </a:r>
          </a:p>
        </p:txBody>
      </p:sp>
      <p:pic>
        <p:nvPicPr>
          <p:cNvPr id="11" name="Picture 10" descr="p2_img5_187x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377440"/>
            <a:ext cx="3200400" cy="2122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B54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Georgia"/>
              </a:rP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69264"/>
            <a:ext cx="7863840" cy="20320"/>
          </a:xfrm>
          <a:prstGeom prst="rect">
            <a:avLst/>
          </a:prstGeom>
          <a:solidFill>
            <a:srgbClr val="C9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img1_265x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19456"/>
            <a:ext cx="1691640" cy="7984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274320"/>
            <a:ext cx="932688" cy="47548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Finex.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B54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929B"/>
                </a:solidFill>
                <a:latin typeface="Segoe UI"/>
              </a:rPr>
              <a:t>@SIH Idea submission- Template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11430000" cy="658368"/>
          </a:xfrm>
          <a:prstGeom prst="rect">
            <a:avLst/>
          </a:prstGeom>
          <a:solidFill>
            <a:srgbClr val="F6F3EC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A96300"/>
                </a:solidFill>
                <a:latin typeface="Segoe UI"/>
              </a:rPr>
              <a:t>THE PROBLEM   </a:t>
            </a:r>
            <a:r>
              <a:rPr sz="1150" b="0" i="0">
                <a:solidFill>
                  <a:srgbClr val="111111"/>
                </a:solidFill>
                <a:latin typeface="Segoe UI"/>
              </a:rPr>
              <a:t>A victim reports one wallet. The money has already moved through several more, and the exchange that received it — the only party who can freeze it — is not named anywhere on the chain.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454B54"/>
                </a:solidFill>
                <a:latin typeface="Segoe UI"/>
              </a:rPr>
              <a:t>Manual tracing takes hours per case, and the freeze window is shorter than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1168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F6E8C"/>
                </a:solidFill>
                <a:latin typeface="Segoe UI"/>
              </a:rPr>
              <a:t>OUR SOLUTION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</a:rPr>
              <a:t>FineX turns a victim-reported wallet — or the transaction hash their own exchange can produce — into the </a:t>
            </a:r>
            <a:r>
              <a:rPr sz="1250" b="1" i="0">
                <a:solidFill>
                  <a:srgbClr val="111111"/>
                </a:solidFill>
                <a:latin typeface="Segoe UI"/>
              </a:rPr>
              <a:t>customer deposit account inside the receiving exchange</a:t>
            </a:r>
            <a:r>
              <a:rPr sz="1250" b="0" i="0">
                <a:solidFill>
                  <a:srgbClr val="111111"/>
                </a:solidFill>
                <a:latin typeface="Segoe UI"/>
              </a:rPr>
              <a:t>, and states whether the money can still be reached.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127248"/>
            <a:ext cx="69494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43A5A"/>
                </a:solidFill>
                <a:latin typeface="Segoe UI"/>
              </a:rPr>
              <a:t>It names the account, not just the exchange. </a:t>
            </a:r>
            <a:r>
              <a:rPr sz="1150" b="0" i="0">
                <a:solidFill>
                  <a:srgbClr val="454B54"/>
                </a:solidFill>
                <a:latin typeface="Segoe UI"/>
              </a:rPr>
              <a:t>The deposit address an exchange can actually restrain — 241 of them derived from public data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739896"/>
            <a:ext cx="6949440" cy="772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43A5A"/>
                </a:solidFill>
                <a:latin typeface="Segoe UI"/>
              </a:rPr>
              <a:t>Triage, not just tracing. </a:t>
            </a:r>
            <a:r>
              <a:rPr sz="1150" b="0" i="0">
                <a:solidFill>
                  <a:srgbClr val="454B54"/>
                </a:solidFill>
                <a:latin typeface="Segoe UI"/>
              </a:rPr>
              <a:t>Every complaint returns CRITICAL (funds still at rest), SUSPICIOUS (a freezable exit named) or CLOSED (mixer or sanctioned), so a cyber cell knows where the next hour goes.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567428"/>
            <a:ext cx="69494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43A5A"/>
                </a:solidFill>
                <a:latin typeface="Segoe UI"/>
              </a:rPr>
              <a:t>Explainable by design. </a:t>
            </a:r>
            <a:r>
              <a:rPr sz="1150" b="0" i="0">
                <a:solidFill>
                  <a:srgbClr val="454B54"/>
                </a:solidFill>
                <a:latin typeface="Segoe UI"/>
              </a:rPr>
              <a:t>Six behavioural rules, each stating in plain words why it fired. No model names an exchange or sets a disposition.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5180076"/>
            <a:ext cx="69494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43A5A"/>
                </a:solidFill>
                <a:latin typeface="Segoe UI"/>
              </a:rPr>
              <a:t>Complaints that share an account are one case. </a:t>
            </a:r>
            <a:r>
              <a:rPr sz="1150" b="0" i="0">
                <a:solidFill>
                  <a:srgbClr val="454B54"/>
                </a:solidFill>
                <a:latin typeface="Segoe UI"/>
              </a:rPr>
              <a:t>Three of our ten recorded cases meet at a single MEXC deposit address.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792724"/>
            <a:ext cx="69494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50" b="1" i="0">
                <a:solidFill>
                  <a:srgbClr val="143A5A"/>
                </a:solidFill>
                <a:latin typeface="Segoe UI"/>
              </a:rPr>
              <a:t>Evidence, not a screenshot. </a:t>
            </a:r>
            <a:r>
              <a:rPr sz="1150" b="0" i="0">
                <a:solidFill>
                  <a:srgbClr val="454B54"/>
                </a:solidFill>
                <a:latin typeface="Segoe UI"/>
              </a:rPr>
              <a:t>Each case produces a packet carrying the SHA-256 of every blockchain response, plus a drafted restraint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011680"/>
            <a:ext cx="4261104" cy="1481328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WHAT AN OFFICER PUTS IN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1100" b="0" i="0">
                <a:solidFill>
                  <a:srgbClr val="111111"/>
                </a:solidFill>
                <a:latin typeface="Segoe UI"/>
              </a:rPr>
              <a:t>A wallet address, a transaction hash, or a pasted column of either — singly or in bulk.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WHAT COMES BACK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400"/>
              </a:spcAft>
            </a:pPr>
            <a:r>
              <a:rPr sz="1100" b="0" i="0">
                <a:solidFill>
                  <a:srgbClr val="111111"/>
                </a:solidFill>
                <a:latin typeface="Segoe UI"/>
              </a:rPr>
              <a:t>A named exit account · a disposition · ranked next wallets · an evidence packet · a freeze request.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3703320"/>
            <a:ext cx="1417320" cy="384048"/>
          </a:xfrm>
          <a:prstGeom prst="rect">
            <a:avLst/>
          </a:prstGeom>
          <a:noFill/>
          <a:ln w="15875">
            <a:solidFill>
              <a:srgbClr val="B02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02A1F"/>
                </a:solidFill>
                <a:latin typeface="Segoe UI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758183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B54"/>
                </a:solidFill>
                <a:latin typeface="Segoe UI"/>
              </a:rPr>
              <a:t>Funds still at rest — act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4215383"/>
            <a:ext cx="1417320" cy="384048"/>
          </a:xfrm>
          <a:prstGeom prst="rect">
            <a:avLst/>
          </a:prstGeom>
          <a:noFill/>
          <a:ln w="15875">
            <a:solidFill>
              <a:srgbClr val="A96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A96300"/>
                </a:solidFill>
                <a:latin typeface="Segoe UI"/>
              </a:rPr>
              <a:t>SUSPICIOUS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270247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B54"/>
                </a:solidFill>
                <a:latin typeface="Segoe UI"/>
              </a:rPr>
              <a:t>Freezable exit named — request the restraint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727448"/>
            <a:ext cx="1417320" cy="384048"/>
          </a:xfrm>
          <a:prstGeom prst="rect">
            <a:avLst/>
          </a:prstGeom>
          <a:noFill/>
          <a:ln w="15875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6B4A"/>
                </a:solidFill>
                <a:latin typeface="Segoe UI"/>
              </a:rPr>
              <a:t>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78231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54B54"/>
                </a:solidFill>
                <a:latin typeface="Segoe UI"/>
              </a:rPr>
              <a:t>Mixer or sanctioned — document and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358384"/>
            <a:ext cx="42611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454B54"/>
                </a:solidFill>
                <a:latin typeface="Segoe UI"/>
              </a:rPr>
              <a:t>Working deployment, not a mock-up — every figure on these slides is counted from the committed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Georgia"/>
              </a:rP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69264"/>
            <a:ext cx="7863840" cy="20320"/>
          </a:xfrm>
          <a:prstGeom prst="rect">
            <a:avLst/>
          </a:prstGeom>
          <a:solidFill>
            <a:srgbClr val="C9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img1_265x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19456"/>
            <a:ext cx="1691640" cy="7984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274320"/>
            <a:ext cx="932688" cy="47548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Finex.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B54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929B"/>
                </a:solidFill>
                <a:latin typeface="Segoe UI"/>
              </a:rPr>
              <a:t>@SIH Idea submission- Template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338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TECHNOLOGIES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444752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F6E8C"/>
                </a:solidFill>
                <a:latin typeface="Segoe UI"/>
              </a:rPr>
              <a:t>▪ </a:t>
            </a:r>
            <a:r>
              <a:rPr sz="1050" b="1" i="0">
                <a:solidFill>
                  <a:srgbClr val="111111"/>
                </a:solidFill>
                <a:latin typeface="Segoe UI"/>
              </a:rPr>
              <a:t>Next.js 16.3.4 · React 19.2.8 · TypeScript 5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    interface and API in one deployable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38528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F6E8C"/>
                </a:solidFill>
                <a:latin typeface="Segoe UI"/>
              </a:rPr>
              <a:t>▪ </a:t>
            </a:r>
            <a:r>
              <a:rPr sz="1050" b="1" i="0">
                <a:solidFill>
                  <a:srgbClr val="111111"/>
                </a:solidFill>
                <a:latin typeface="Segoe UI"/>
              </a:rPr>
              <a:t>Tailwind CSS 4 · Node.js 22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    no component library, no build sprawl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32304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F6E8C"/>
                </a:solidFill>
                <a:latin typeface="Segoe UI"/>
              </a:rPr>
              <a:t>▪ </a:t>
            </a:r>
            <a:r>
              <a:rPr sz="1050" b="1" i="0">
                <a:solidFill>
                  <a:srgbClr val="111111"/>
                </a:solidFill>
                <a:latin typeface="Segoe UI"/>
              </a:rPr>
              <a:t>TronGrid public API, native fetch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    TRON mainnet, USDT TRC-20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926080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F6E8C"/>
                </a:solidFill>
                <a:latin typeface="Segoe UI"/>
              </a:rPr>
              <a:t>▪ </a:t>
            </a:r>
            <a:r>
              <a:rPr sz="1050" b="1" i="0">
                <a:solidFill>
                  <a:srgbClr val="111111"/>
                </a:solidFill>
                <a:latin typeface="Segoe UI"/>
              </a:rPr>
              <a:t>JSON datasets in the repository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    no database to provision or 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419856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F6E8C"/>
                </a:solidFill>
                <a:latin typeface="Segoe UI"/>
              </a:rPr>
              <a:t>▪ </a:t>
            </a:r>
            <a:r>
              <a:rPr sz="1050" b="1" i="0">
                <a:solidFill>
                  <a:srgbClr val="111111"/>
                </a:solidFill>
                <a:latin typeface="Segoe UI"/>
              </a:rPr>
              <a:t>Rule-based scoring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    no ML model, no language model, anywhere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913632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F6E8C"/>
                </a:solidFill>
                <a:latin typeface="Segoe UI"/>
              </a:rPr>
              <a:t>▪ </a:t>
            </a:r>
            <a:r>
              <a:rPr sz="1050" b="1" i="0">
                <a:solidFill>
                  <a:srgbClr val="111111"/>
                </a:solidFill>
                <a:latin typeface="Segoe UI"/>
              </a:rPr>
              <a:t>SHA-256 chain-of-custody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    every chain response hashed into the packet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526280"/>
            <a:ext cx="3246120" cy="960120"/>
          </a:xfrm>
          <a:prstGeom prst="rect">
            <a:avLst/>
          </a:prstGeom>
          <a:solidFill>
            <a:srgbClr val="F6F3EC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6300"/>
                </a:solidFill>
                <a:latin typeface="Segoe UI"/>
              </a:rPr>
              <a:t>ONE ADDED DEPENDENCY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1000" b="0" i="0">
                <a:solidFill>
                  <a:srgbClr val="111111"/>
                </a:solidFill>
                <a:latin typeface="Segoe UI"/>
              </a:rPr>
              <a:t>@xyflow/react for the flow canvas. Every other visual is hand-drawn SVG.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13385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PIPELINE — AND THE LIMITS IT RUNS UNDER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4264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1 Intake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Wallet or 64-hex transaction hash · base58check validated before any chain 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17693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2 Collection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Paginated TRC-20 transfers · per-address cache · shared adaptive pacing (250 ms, 100 ms keyed)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122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3 Traversal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BFS: depth ≤ 3 · top 5 outflows per wallet · drop &lt; 1% of the amount · only what left after the money arrived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4551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4 Taint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Haircut (default) and FIFO, stated side by side · dwell measured from a real receipt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7980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5 Attribution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Deterministic lookup, priority sanctioned → hot wallet → deposit address · confidence + source tier on every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409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6 Clustering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≥ 2 sweeps into one tagged wallet and ≥ 90% of inflow forwarded ⇒ customer deposit address (241 · 10 exchanges · 15 seeds)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838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7 Scoring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SHORT_DWELL · HIGH_FANOUT · PEEL_CHAIN · ROUND_AMOUNTS · NEW_ADDRESS · SANCTIONED_CONTACT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8267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8 Triage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CRITICAL / SUSPICIOUS / CLOSED with a one-sentence reason, plus ranked leads and chokepoints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696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43A5A"/>
                </a:solidFill>
                <a:latin typeface="Segoe UI"/>
              </a:rPr>
              <a:t>9 Output   </a:t>
            </a:r>
            <a:r>
              <a:rPr sz="1000" b="0" i="0">
                <a:solidFill>
                  <a:srgbClr val="454B54"/>
                </a:solidFill>
                <a:latin typeface="Segoe UI"/>
              </a:rPr>
              <a:t>Evidence packet (hash per response) · freeze request · CSV worklist · watchlist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590288"/>
            <a:ext cx="79552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111111"/>
                </a:solidFill>
                <a:latin typeface="Segoe UI"/>
              </a:rPr>
              <a:t>Progress is streamed per hop as the trace runs, so the officer watches real telemetry — not a fake progress bar.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828032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0F6E8C"/>
                </a:solidFill>
                <a:latin typeface="Segoe UI"/>
              </a:rPr>
              <a:t>FROM THE LIVE DEPLOYMENT — the named customer deposit address, its confidence and its evidence tier</a:t>
            </a:r>
          </a:p>
        </p:txBody>
      </p:sp>
      <p:pic>
        <p:nvPicPr>
          <p:cNvPr id="28" name="Picture 27" descr="screenshot-finding-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047488"/>
            <a:ext cx="6949440" cy="1431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69264"/>
            <a:ext cx="7863840" cy="20320"/>
          </a:xfrm>
          <a:prstGeom prst="rect">
            <a:avLst/>
          </a:prstGeom>
          <a:solidFill>
            <a:srgbClr val="C9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img1_265x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19456"/>
            <a:ext cx="1691640" cy="7984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274320"/>
            <a:ext cx="932688" cy="47548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Finex.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B54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929B"/>
                </a:solidFill>
                <a:latin typeface="Segoe UI"/>
              </a:rPr>
              <a:t>@SIH Idea submission- Template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33856"/>
            <a:ext cx="11430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EVERY RISK, PAIRED WITH WHAT WE ACTUALLY DO ABOUT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517904"/>
            <a:ext cx="55412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02A1F"/>
                </a:solidFill>
                <a:latin typeface="Segoe UI"/>
              </a:rPr>
              <a:t>RISK  </a:t>
            </a:r>
            <a:r>
              <a:rPr sz="1150" b="1" i="0">
                <a:solidFill>
                  <a:srgbClr val="111111"/>
                </a:solidFill>
                <a:latin typeface="Segoe UI"/>
              </a:rPr>
              <a:t>Public API rate limits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MITIGATION  </a:t>
            </a:r>
            <a:r>
              <a:rPr sz="1050" b="0" i="0">
                <a:solidFill>
                  <a:srgbClr val="454B54"/>
                </a:solidFill>
                <a:latin typeface="Segoe UI"/>
              </a:rPr>
              <a:t>One shared adaptive pacer for the whole server — 250 ms between calls, 100 ms with a key, doubling on every refusal. A wallet we could not read is reported as unreadable, never as empty.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3" y="1517904"/>
            <a:ext cx="55412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02A1F"/>
                </a:solidFill>
                <a:latin typeface="Segoe UI"/>
              </a:rPr>
              <a:t>RISK  </a:t>
            </a:r>
            <a:r>
              <a:rPr sz="1150" b="1" i="0">
                <a:solidFill>
                  <a:srgbClr val="111111"/>
                </a:solidFill>
                <a:latin typeface="Segoe UI"/>
              </a:rPr>
              <a:t>Mixers and bridges end the trail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MITIGATION  </a:t>
            </a:r>
            <a:r>
              <a:rPr sz="1050" b="0" i="0">
                <a:solidFill>
                  <a:srgbClr val="454B54"/>
                </a:solidFill>
                <a:latin typeface="Segoe UI"/>
              </a:rPr>
              <a:t>We record the entry and stop. The case closes as CLOSED. We never guess past a bridge.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145536"/>
            <a:ext cx="55412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02A1F"/>
                </a:solidFill>
                <a:latin typeface="Segoe UI"/>
              </a:rPr>
              <a:t>RISK  </a:t>
            </a:r>
            <a:r>
              <a:rPr sz="1150" b="1" i="0">
                <a:solidFill>
                  <a:srgbClr val="111111"/>
                </a:solidFill>
                <a:latin typeface="Segoe UI"/>
              </a:rPr>
              <a:t>Attribution is a heuristic, not proof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MITIGATION  </a:t>
            </a:r>
            <a:r>
              <a:rPr sz="1050" b="0" i="0">
                <a:solidFill>
                  <a:srgbClr val="454B54"/>
                </a:solidFill>
                <a:latin typeface="Segoe UI"/>
              </a:rPr>
              <a:t>Every label carries a confidence and an evidence tier. Re-tested against the chain: 40 sampled, 31 readable, all 31 still meet the rule. Only the exchange can confirm the accountholder — the packet says 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3" y="3145536"/>
            <a:ext cx="55412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02A1F"/>
                </a:solidFill>
                <a:latin typeface="Segoe UI"/>
              </a:rPr>
              <a:t>RISK  </a:t>
            </a:r>
            <a:r>
              <a:rPr sz="1150" b="1" i="0">
                <a:solidFill>
                  <a:srgbClr val="111111"/>
                </a:solidFill>
                <a:latin typeface="Segoe UI"/>
              </a:rPr>
              <a:t>Some behavioural rules are weak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MITIGATION  </a:t>
            </a:r>
            <a:r>
              <a:rPr sz="1050" b="0" i="0">
                <a:solidFill>
                  <a:srgbClr val="454B54"/>
                </a:solidFill>
                <a:latin typeface="Segoe UI"/>
              </a:rPr>
              <a:t>Measured, not assumed: on a sample of 17 unreported wallets, peel-chain fired on 16 and fan-out on 15, so both are known to be weak on their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4773168"/>
            <a:ext cx="55412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02A1F"/>
                </a:solidFill>
                <a:latin typeface="Segoe UI"/>
              </a:rPr>
              <a:t>RISK  </a:t>
            </a:r>
            <a:r>
              <a:rPr sz="1150" b="1" i="0">
                <a:solidFill>
                  <a:srgbClr val="111111"/>
                </a:solidFill>
                <a:latin typeface="Segoe UI"/>
              </a:rPr>
              <a:t>No Indian VASP is publicly tagged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MITIGATION  </a:t>
            </a:r>
            <a:r>
              <a:rPr sz="1050" b="0" i="0">
                <a:solidFill>
                  <a:srgbClr val="454B54"/>
                </a:solidFill>
                <a:latin typeface="Segoe UI"/>
              </a:rPr>
              <a:t>2,500 tagged accounts scanned and none found. We do not invent one; adding a verified Indian exchange is one row of data and one re-run of the clustering.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3" y="4773168"/>
            <a:ext cx="554126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02A1F"/>
                </a:solidFill>
                <a:latin typeface="Segoe UI"/>
              </a:rPr>
              <a:t>RISK  </a:t>
            </a:r>
            <a:r>
              <a:rPr sz="1150" b="1" i="0">
                <a:solidFill>
                  <a:srgbClr val="111111"/>
                </a:solidFill>
                <a:latin typeface="Segoe UI"/>
              </a:rPr>
              <a:t>Cost, deployment and data custody</a:t>
            </a:r>
          </a:p>
          <a:p>
            <a:pPr algn="l">
              <a:lnSpc>
                <a:spcPct val="114000"/>
              </a:lnSpc>
              <a:spcBef>
                <a:spcPts val="50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MITIGATION  </a:t>
            </a:r>
            <a:r>
              <a:rPr sz="1050" b="0" i="0">
                <a:solidFill>
                  <a:srgbClr val="454B54"/>
                </a:solidFill>
                <a:latin typeface="Segoe UI"/>
              </a:rPr>
              <a:t>Public endpoints, no licence, no database. Self-hosted by the agency, so case data never leaves it. ₹0 in data licences as deployed.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Georgia"/>
              </a:rPr>
              <a:t>IMPACT AND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69264"/>
            <a:ext cx="7863840" cy="20320"/>
          </a:xfrm>
          <a:prstGeom prst="rect">
            <a:avLst/>
          </a:prstGeom>
          <a:solidFill>
            <a:srgbClr val="C9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img1_265x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19456"/>
            <a:ext cx="1691640" cy="7984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274320"/>
            <a:ext cx="932688" cy="47548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Finex.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B54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929B"/>
                </a:solidFill>
                <a:latin typeface="Segoe UI"/>
              </a:rPr>
              <a:t>@SIH Idea submission- Template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MEASURED, FROM THE COMMITTED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44752"/>
            <a:ext cx="1783080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43A5A"/>
                </a:solidFill>
                <a:latin typeface="Segoe UI"/>
              </a:rPr>
              <a:t>241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customer deposit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addresses derived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13432" y="1444752"/>
            <a:ext cx="1783080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43A5A"/>
                </a:solidFill>
                <a:latin typeface="Segoe UI"/>
              </a:rPr>
              <a:t>10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exchanges covered,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from 15 public seeds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444752"/>
            <a:ext cx="1783080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43A5A"/>
                </a:solidFill>
                <a:latin typeface="Segoe UI"/>
              </a:rPr>
              <a:t>202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OFAC-sanctioned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TRON addresses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44752"/>
            <a:ext cx="1783080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43A5A"/>
                </a:solidFill>
                <a:latin typeface="Segoe UI"/>
              </a:rPr>
              <a:t>6 / 6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behavioural rules fire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on real recorded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1444752"/>
            <a:ext cx="1783080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43A5A"/>
                </a:solidFill>
                <a:latin typeface="Segoe UI"/>
              </a:rPr>
              <a:t>33 / 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transactions confirmed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on re-read / mismatched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30967" y="1444752"/>
            <a:ext cx="1783080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400" b="1" i="0">
                <a:solidFill>
                  <a:srgbClr val="143A5A"/>
                </a:solidFill>
                <a:latin typeface="Segoe UI"/>
              </a:rPr>
              <a:t>₹0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in commercial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data licences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7432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WHAT IT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054096"/>
            <a:ext cx="576072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00" b="1" i="0">
                <a:solidFill>
                  <a:srgbClr val="143A5A"/>
                </a:solidFill>
                <a:latin typeface="Segoe UI"/>
              </a:rPr>
              <a:t>For the investigator. </a:t>
            </a:r>
            <a:r>
              <a:rPr sz="1100" b="0" i="0">
                <a:solidFill>
                  <a:srgbClr val="454B54"/>
                </a:solidFill>
                <a:latin typeface="Segoe UI"/>
              </a:rPr>
              <a:t>A named account to act on and a disposition that says which case is worth the next hour.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703320"/>
            <a:ext cx="576072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00" b="1" i="0">
                <a:solidFill>
                  <a:srgbClr val="143A5A"/>
                </a:solidFill>
                <a:latin typeface="Segoe UI"/>
              </a:rPr>
              <a:t>For the exchange. </a:t>
            </a:r>
            <a:r>
              <a:rPr sz="1100" b="0" i="0">
                <a:solidFill>
                  <a:srgbClr val="454B54"/>
                </a:solidFill>
                <a:latin typeface="Segoe UI"/>
              </a:rPr>
              <a:t>A restraint request that names the deposit address, not just the brand — the account they can actually locate.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352544"/>
            <a:ext cx="576072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00" b="1" i="0">
                <a:solidFill>
                  <a:srgbClr val="143A5A"/>
                </a:solidFill>
                <a:latin typeface="Segoe UI"/>
              </a:rPr>
              <a:t>For the case file. </a:t>
            </a:r>
            <a:r>
              <a:rPr sz="1100" b="0" i="0">
                <a:solidFill>
                  <a:srgbClr val="454B54"/>
                </a:solidFill>
                <a:latin typeface="Segoe UI"/>
              </a:rPr>
              <a:t>Findings re-verifiable from the hash of every chain response, months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5001768"/>
            <a:ext cx="576072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▪  </a:t>
            </a:r>
            <a:r>
              <a:rPr sz="1100" b="1" i="0">
                <a:solidFill>
                  <a:srgbClr val="143A5A"/>
                </a:solidFill>
                <a:latin typeface="Segoe UI"/>
              </a:rPr>
              <a:t>For the state. </a:t>
            </a:r>
            <a:r>
              <a:rPr sz="1100" b="0" i="0">
                <a:solidFill>
                  <a:srgbClr val="454B54"/>
                </a:solidFill>
                <a:latin typeface="Segoe UI"/>
              </a:rPr>
              <a:t>Sovereign and self-hosted: public data only, no foreign vendor, no per-seat licence.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43200"/>
            <a:ext cx="5367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AGAINST THE PROBLEM STATEMENT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054096"/>
            <a:ext cx="53675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6B4A"/>
                </a:solidFill>
                <a:latin typeface="Segoe UI"/>
              </a:rPr>
              <a:t>BUILT NOW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VASP identification · wallet tracing · real-time analysis · fund-flow visualisation · exchange clustering · pattern detection · standard reports · investigative recommendations · dashboards · complaint intake · API integrations · wallet risk categorisation · automated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114800"/>
            <a:ext cx="53675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6300"/>
                </a:solidFill>
                <a:latin typeface="Segoe UI"/>
              </a:rPr>
              <a:t>AT THE FINALE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Cross-chain adapter with USDT on Ethereum end to end · NCRP intake API returning a restraint request against an acknowledgement number · server-side continuous monitoring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175504"/>
            <a:ext cx="53675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43A5A"/>
                </a:solidFill>
                <a:latin typeface="Segoe UI"/>
              </a:rPr>
              <a:t>AFTER SIH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950" b="0" i="0">
                <a:solidFill>
                  <a:srgbClr val="454B54"/>
                </a:solidFill>
                <a:latin typeface="Segoe UI"/>
              </a:rPr>
              <a:t>Live NCRP / SAHYOG connection once I4C grants access · self-hosted TRON node for indexing at scale · ML that ranks the queue only — never names an exchange or sets a disposition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76072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454B54"/>
                </a:solidFill>
                <a:latin typeface="Segoe UI"/>
              </a:rPr>
              <a:t>Mixers: a path touching a sanctioned service closes the case. A dedicated mixer list is deliberately empty — no citable public source, and a wrong entry would close a case that should stay open.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11111"/>
                </a:solidFill>
                <a:latin typeface="Georgia"/>
              </a:rPr>
              <a:t>RESEARCH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69264"/>
            <a:ext cx="7863840" cy="20320"/>
          </a:xfrm>
          <a:prstGeom prst="rect">
            <a:avLst/>
          </a:prstGeom>
          <a:solidFill>
            <a:srgbClr val="C9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_img1_265x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19456"/>
            <a:ext cx="1691640" cy="79840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274320"/>
            <a:ext cx="932688" cy="475488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Finex.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54B54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556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929B"/>
                </a:solidFill>
                <a:latin typeface="Segoe UI"/>
              </a:rPr>
              <a:t>@SIH Idea submission- Template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88720"/>
            <a:ext cx="7452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1.  </a:t>
            </a:r>
            <a:r>
              <a:rPr sz="1050" b="0" i="0">
                <a:solidFill>
                  <a:srgbClr val="111111"/>
                </a:solidFill>
                <a:latin typeface="Segoe UI"/>
              </a:rPr>
              <a:t>Smart India Hackathon 2026 — Problem Statement SIH26183, Ministry of Home Affairs / I4C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0F6E8C"/>
                </a:solidFill>
                <a:latin typeface="Segoe UI"/>
              </a:rPr>
              <a:t>https://www.sih.gov.in/sih2026PS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7452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2.  </a:t>
            </a:r>
            <a:r>
              <a:rPr sz="1050" b="0" i="0">
                <a:solidFill>
                  <a:srgbClr val="111111"/>
                </a:solidFill>
                <a:latin typeface="Segoe UI"/>
              </a:rPr>
              <a:t>UNODC (2024) — Casinos, Money Laundering, Underground Banking and Transnational Organized Crime in East and South-East Asia, p. 20: USDT on TRON “has become a preferred choice”. This is why the tool is TRON-first.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0F6E8C"/>
                </a:solidFill>
                <a:latin typeface="Segoe UI"/>
              </a:rPr>
              <a:t>https://www.unodc.org/roseap/uploads/documents/Publications/2024/Casino_Underground_Banking_Report_2024.pdf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633472"/>
            <a:ext cx="7452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3.  </a:t>
            </a:r>
            <a:r>
              <a:rPr sz="1050" b="0" i="0">
                <a:solidFill>
                  <a:srgbClr val="111111"/>
                </a:solidFill>
                <a:latin typeface="Segoe UI"/>
              </a:rPr>
              <a:t>OFAC Specially Designated Nationals list, US Department of the Treasury — source of the 202 sanctioned TRON addresses carried in the tool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0F6E8C"/>
                </a:solidFill>
                <a:latin typeface="Segoe UI"/>
              </a:rPr>
              <a:t>https://sanctionslist.ofac.treas.gov/Home/SdnList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438144"/>
            <a:ext cx="7452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4.  </a:t>
            </a:r>
            <a:r>
              <a:rPr sz="1050" b="0" i="0">
                <a:solidFill>
                  <a:srgbClr val="111111"/>
                </a:solidFill>
                <a:latin typeface="Segoe UI"/>
              </a:rPr>
              <a:t>TronGrid API documentation, TRON — TRC-20 transfer data used for every trace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0F6E8C"/>
                </a:solidFill>
                <a:latin typeface="Segoe UI"/>
              </a:rPr>
              <a:t>https://developers.tron.network/reference/trongrid-v1-api-overview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078224"/>
            <a:ext cx="7452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F6E8C"/>
                </a:solidFill>
                <a:latin typeface="Segoe UI"/>
              </a:rPr>
              <a:t>5.  </a:t>
            </a:r>
            <a:r>
              <a:rPr sz="1050" b="0" i="0">
                <a:solidFill>
                  <a:srgbClr val="111111"/>
                </a:solidFill>
                <a:latin typeface="Segoe UI"/>
              </a:rPr>
              <a:t>NCRP and SAHYOG — the platforms the problem statement asks this system to integrate with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00"/>
              </a:spcAft>
            </a:pPr>
            <a:r>
              <a:rPr sz="950" b="0" i="0">
                <a:solidFill>
                  <a:srgbClr val="0F6E8C"/>
                </a:solidFill>
                <a:latin typeface="Segoe UI"/>
              </a:rPr>
              <a:t>https://cybercrime.gov.in   ·   https://sahyog.mha.gov.in</a:t>
            </a:r>
          </a:p>
        </p:txBody>
      </p:sp>
      <p:pic>
        <p:nvPicPr>
          <p:cNvPr id="13" name="Picture 12" descr="p6_img2_81x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73168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" y="4718304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11111"/>
                </a:solidFill>
                <a:latin typeface="Segoe UI"/>
              </a:rPr>
              <a:t>Source code and documentation   </a:t>
            </a:r>
            <a:r>
              <a:rPr sz="1050" b="0" i="0">
                <a:solidFill>
                  <a:srgbClr val="0F6E8C"/>
                </a:solidFill>
                <a:latin typeface="Segoe UI"/>
              </a:rPr>
              <a:t>github.com/reemrasheed2007/crypto-fraud-tracer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050" b="1" i="0">
                <a:solidFill>
                  <a:srgbClr val="111111"/>
                </a:solidFill>
                <a:latin typeface="Segoe UI"/>
              </a:rPr>
              <a:t>Live deployment   </a:t>
            </a:r>
            <a:r>
              <a:rPr sz="1050" b="0" i="0">
                <a:solidFill>
                  <a:srgbClr val="0F6E8C"/>
                </a:solidFill>
                <a:latin typeface="Segoe UI"/>
              </a:rPr>
              <a:t>crypto-fraud-tracer.onrender.com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188720"/>
            <a:ext cx="3712463" cy="2880360"/>
          </a:xfrm>
          <a:prstGeom prst="rect">
            <a:avLst/>
          </a:prstGeom>
          <a:solidFill>
            <a:srgbClr val="EEF3F7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OPEN THE WORKING TOOL</a:t>
            </a:r>
          </a:p>
        </p:txBody>
      </p:sp>
      <p:pic>
        <p:nvPicPr>
          <p:cNvPr id="16" name="Picture 15" descr="qr-fin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627632"/>
            <a:ext cx="169164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3429000"/>
            <a:ext cx="352958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11111"/>
                </a:solidFill>
                <a:latin typeface="Consolas"/>
              </a:rPr>
              <a:t>crypto-fraud-tracer.onrender.com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Three recorded cases open straight from the front 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4224528"/>
            <a:ext cx="3712463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F6E8C"/>
                </a:solidFill>
                <a:latin typeface="Segoe UI"/>
              </a:rPr>
              <a:t>DEMO VIDEO — 58 SECONDS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</a:pPr>
            <a:r>
              <a:rPr sz="900" b="0" i="0">
                <a:solidFill>
                  <a:srgbClr val="454B54"/>
                </a:solidFill>
                <a:latin typeface="Segoe UI"/>
              </a:rPr>
              <a:t>A full case, start to finish, with narration.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0">
                <a:solidFill>
                  <a:srgbClr val="111111"/>
                </a:solidFill>
                <a:latin typeface="Segoe UI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5074920"/>
            <a:ext cx="3163824" cy="12700"/>
          </a:xfrm>
          <a:prstGeom prst="rect">
            <a:avLst/>
          </a:prstGeom>
          <a:solidFill>
            <a:srgbClr val="C9D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120640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9AA2AA"/>
                </a:solidFill>
                <a:latin typeface="Segoe UI"/>
              </a:rPr>
              <a:t>paste the video link 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5559552"/>
            <a:ext cx="3712463" cy="713232"/>
          </a:xfrm>
          <a:prstGeom prst="rect">
            <a:avLst/>
          </a:prstGeom>
          <a:solidFill>
            <a:srgbClr val="F6F3EC"/>
          </a:solidFill>
          <a:ln w="12700">
            <a:solidFill>
              <a:srgbClr val="C9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A96300"/>
                </a:solidFill>
                <a:latin typeface="Segoe UI"/>
              </a:rPr>
              <a:t>KEY RESEARCH INSIGHT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950" b="0" i="0">
                <a:solidFill>
                  <a:srgbClr val="111111"/>
                </a:solidFill>
                <a:latin typeface="Segoe UI"/>
              </a:rPr>
              <a:t>Public blockchain data → traceable fund movement → a named account an exchange can freeze.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